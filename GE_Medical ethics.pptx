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the audience. Introduce yourself and the topic. Mention this presentation covers gene therapy and genetic engineering at a college/MBBS level, touching on mechanisms, applications, ethics, and future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both terms clearly. Emphasize: genetic engineering is the technique; gene therapy is the clinical application. Give analogy: genetic engineering is like software coding; gene therapy is running the patch on a sick computer (body).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timeline. Highlight 1953 (foundation), 1990 (first trial), 2012 (CRISPR revolution), and 2023 (real-world CRISPR approval). Emphasize how rapidly the field has advanced.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somatic vs germline clearly. Somatic is ethical and approved. Germline is controversial and banned in most countries. Mention He Jiankui controversy (2018 CRISPR baby scandal). Ask students: why is germline therapy so debated?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viral vs non-viral delivery. AAV is the gold standard for clinical gene therapy. Lipid nanoparticles gained fame via COVID mRNA vaccines. Discuss the trade-off: viral = efficient but immune response risk; non-viral = safer but less efficient.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recombinant DNA (the original genetic engineering tool), then CRISPR (the modern revolution). Cloning is foundational to all molecular biology. TALEN/ZFN are predecessors of CRISPR. Emphasize CRISPR is like a 'find and replace' function in DNA.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each step of CRISPR carefully. Use the analogy: sgRNA = GPS coordinates, Cas9 = molecular scissors. NHEJ is error-prone (useful for knockouts), HDR is precise (useful for gene correction). Mention real-world applications: sickle cell disease, cancer, blindness.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 the six major areas. Emphasize approved therapies: Casgevy, Zolgensma, Luxturna, CAR-T. Mention cost issue (Zolgensma = $2.1M one-time dose). CAR-T cell therapy is the most exciting oncology breakthrough. mRNA vaccines brought gene delivery to mainstream awareness.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GM crops are grown on ~190 million hectares. Major products: Bt corn/cotton, Roundup Ready soy, Golden Rice. Discuss controversy: golden rice could prevent 500,000+ childhood blindness cases/year but faced regulatory delays. CRISPR in agriculture is not classified as 'GMO' in some countries, easing approval.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Highlight the transformative potential. Key message: gene therapy addresses the ROOT CAUSE. Personalized medicine is the future — matching therapy to individual genome. Emphasize economic benefits too: cheaper insulin production via recombinant DNA saved millions of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Discuss the Jesse Gelsinger case (1999): first gene therapy death, set back the field by years. He Jiankui case (2018): first CRISPR babies, led to international outrage and his imprisonment. Key ethical principles: non-maleficence, justice, autonomy. Ask: should germline editing ever be allowed?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AlphaFold is a landmark — it solved a 50-year grand challenge in biology. AI + CRISPR is the future. Prime editing is safer than standard CRISPR (no double-strand break). By 2030, expect gene therapies to become as routine as chemotherapy. WGS cost curve mirrors Moore's Law.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landmark cases every medical student should know. Ashanthi = proof of concept (1990). Luxturna = first approved (2017). Casgevy = CRISPR milestone (2023). Zolgensma = most expensive medicine, but cost-effective as a lifetime cure. Discuss: how do we decide who gets $2M therapies?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Summarize all six key points. Reinforce that gene therapy is not science fiction — it's here today. End with the quote and open for Q&amp;A. Suggested question to pose: 'If you could eliminate a genetic disease from your family line, would you — and should you be allowed to?'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Direct students to these primary sources for further reading. Emphasize peer-reviewed journals (Science, Nature) and official health agencies (WHO, NIH, FDA) as gold-standard sources. Robbins Pathology has an excellent chapter on genetic disorders.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875520" y="274320"/>
            <a:ext cx="25603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899648" y="274320"/>
            <a:ext cx="25603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966960" y="320040"/>
            <a:ext cx="10972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875520" y="64008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24031" y="64008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875520" y="100584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948416" y="100584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966960" y="1051560"/>
            <a:ext cx="109728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0" y="137160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972800" y="137160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875520" y="173736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97183" y="173736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783080"/>
            <a:ext cx="10972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875520" y="210312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997183" y="210312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875520" y="246888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0" y="246888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966960" y="2514600"/>
            <a:ext cx="109728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875520" y="283464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948416" y="283464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0" y="320040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924031" y="320040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966960" y="3246120"/>
            <a:ext cx="10972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875520" y="3566160"/>
            <a:ext cx="25603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899648" y="3566160"/>
            <a:ext cx="256032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875520" y="393192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924031" y="393192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966960" y="3977639"/>
            <a:ext cx="109728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0" y="429768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948416" y="429768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466344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0972800" y="466344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966960" y="4709160"/>
            <a:ext cx="10972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875520" y="502920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97183" y="502920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875520" y="539496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997183" y="5394960"/>
            <a:ext cx="158496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966960" y="5440680"/>
            <a:ext cx="109728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875520" y="576072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972800" y="5760720"/>
            <a:ext cx="182880" cy="201168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875520" y="612648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948416" y="6126480"/>
            <a:ext cx="207264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966960" y="6172200"/>
            <a:ext cx="1097280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875520" y="649224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924031" y="6492240"/>
            <a:ext cx="231647" cy="201168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0"/>
            <a:ext cx="9418320" cy="6858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1051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2C39A"/>
                </a:solidFill>
                <a:latin typeface="Calibri"/>
              </a:rPr>
              <a:t>MBBS | COLLEGE LEVEL  ·  BIOMEDICAL SCIENCES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" y="1508760"/>
            <a:ext cx="8412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Gene Therapy &amp;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2468880"/>
            <a:ext cx="8961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02C39A"/>
                </a:solidFill>
                <a:latin typeface="Calibri"/>
              </a:rPr>
              <a:t>Genetic Engineering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7240" y="3566160"/>
            <a:ext cx="685800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37033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0C8E0"/>
                </a:solidFill>
                <a:latin typeface="Calibri"/>
              </a:rPr>
              <a:t>A Comprehensive Overview for Medical &amp; Life Science Students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42519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B0C8"/>
                </a:solidFill>
                <a:latin typeface="Calibri"/>
              </a:rPr>
              <a:t>Presented by: _______________________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46177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B0C8"/>
                </a:solidFill>
                <a:latin typeface="Calibri"/>
              </a:rPr>
              <a:t>Institution: _________________________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7240" y="49834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0B0C8"/>
                </a:solidFill>
                <a:latin typeface="Calibri"/>
              </a:rPr>
              <a:t>Date: _______________________________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Introduction: Gene Therapy &amp; Genetic Engineering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440680" cy="246888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44068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252728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🧬  Gene Therapy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81912"/>
            <a:ext cx="516636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Introduction of therapeutic genetic material into cells to treat or prevent disease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Corrects faulty genes causing disease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Can add, silence, or replace a gene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Targets somatic (body) or germline (inherited) cells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Emerging as a revolutionary medical treatment option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143000"/>
            <a:ext cx="5852160" cy="246888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89320" y="1143000"/>
            <a:ext cx="5852160" cy="7315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0" y="1252728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⚗️  Genetic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81912"/>
            <a:ext cx="5577840" cy="1938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Direct manipulation of an organism's DNA using biotechnology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Alters genes to produce desired traits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Includes recombinant DNA technology, CRISPR, cloning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Applied in medicine, agriculture, and research</a:t>
            </a:r>
          </a:p>
          <a:p>
            <a:pPr>
              <a:spcAft>
                <a:spcPts val="200"/>
              </a:spcAft>
            </a:pPr>
            <a:r>
              <a:rPr sz="1200">
                <a:solidFill>
                  <a:srgbClr val="1A1A2E"/>
                </a:solidFill>
                <a:latin typeface="Calibri"/>
              </a:rPr>
              <a:t>Foundation of modern molecular biology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3767328"/>
            <a:ext cx="1152144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3813048"/>
            <a:ext cx="11521440" cy="13716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858768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📌  Key Relationship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206240"/>
            <a:ext cx="111556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1A2E"/>
                </a:solidFill>
                <a:latin typeface="Calibri"/>
              </a:rPr>
              <a:t>Genetic Engineering is the broad toolbox of techniques; Gene Therapy is its targeted medical application — the science of rewriting DNA errors that cause disease.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History &amp; Development: Key Milestones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246120"/>
            <a:ext cx="1115568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2282" y="2743200"/>
            <a:ext cx="694944" cy="694944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1953</a:t>
            </a:r>
          </a:p>
        </p:txBody>
      </p:sp>
      <p:sp>
        <p:nvSpPr>
          <p:cNvPr id="7" name="Oval 6"/>
          <p:cNvSpPr/>
          <p:nvPr/>
        </p:nvSpPr>
        <p:spPr>
          <a:xfrm>
            <a:off x="1089442" y="3172968"/>
            <a:ext cx="146304" cy="14630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02" y="3401568"/>
            <a:ext cx="16851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Watson &amp; Crick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242" y="3749039"/>
            <a:ext cx="19594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Double-helix structure of DNA discovered</a:t>
            </a:r>
          </a:p>
        </p:txBody>
      </p:sp>
      <p:sp>
        <p:nvSpPr>
          <p:cNvPr id="10" name="Oval 9"/>
          <p:cNvSpPr/>
          <p:nvPr/>
        </p:nvSpPr>
        <p:spPr>
          <a:xfrm>
            <a:off x="2545950" y="2743200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1973</a:t>
            </a:r>
          </a:p>
        </p:txBody>
      </p:sp>
      <p:sp>
        <p:nvSpPr>
          <p:cNvPr id="11" name="Oval 10"/>
          <p:cNvSpPr/>
          <p:nvPr/>
        </p:nvSpPr>
        <p:spPr>
          <a:xfrm>
            <a:off x="2683110" y="3172968"/>
            <a:ext cx="146304" cy="14630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3070" y="3401568"/>
            <a:ext cx="16851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Cohen &amp; Boyer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5910" y="3749039"/>
            <a:ext cx="19594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First recombinant DNA organism created</a:t>
            </a:r>
          </a:p>
        </p:txBody>
      </p:sp>
      <p:sp>
        <p:nvSpPr>
          <p:cNvPr id="14" name="Oval 13"/>
          <p:cNvSpPr/>
          <p:nvPr/>
        </p:nvSpPr>
        <p:spPr>
          <a:xfrm>
            <a:off x="4139619" y="2743200"/>
            <a:ext cx="694944" cy="694944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1990</a:t>
            </a:r>
          </a:p>
        </p:txBody>
      </p:sp>
      <p:sp>
        <p:nvSpPr>
          <p:cNvPr id="15" name="Oval 14"/>
          <p:cNvSpPr/>
          <p:nvPr/>
        </p:nvSpPr>
        <p:spPr>
          <a:xfrm>
            <a:off x="4276779" y="3172968"/>
            <a:ext cx="146304" cy="14630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56739" y="3401568"/>
            <a:ext cx="16851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W.F. Anderson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19579" y="3749039"/>
            <a:ext cx="19594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First approved human gene therapy trial (ADA-SCID)</a:t>
            </a:r>
          </a:p>
        </p:txBody>
      </p:sp>
      <p:sp>
        <p:nvSpPr>
          <p:cNvPr id="18" name="Oval 17"/>
          <p:cNvSpPr/>
          <p:nvPr/>
        </p:nvSpPr>
        <p:spPr>
          <a:xfrm>
            <a:off x="5733287" y="2743200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2003</a:t>
            </a:r>
          </a:p>
        </p:txBody>
      </p:sp>
      <p:sp>
        <p:nvSpPr>
          <p:cNvPr id="19" name="Oval 18"/>
          <p:cNvSpPr/>
          <p:nvPr/>
        </p:nvSpPr>
        <p:spPr>
          <a:xfrm>
            <a:off x="5870447" y="3172968"/>
            <a:ext cx="146304" cy="14630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0407" y="3401568"/>
            <a:ext cx="16851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HGP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7" y="3749039"/>
            <a:ext cx="19594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Human Genome Project fully sequenced</a:t>
            </a:r>
          </a:p>
        </p:txBody>
      </p:sp>
      <p:sp>
        <p:nvSpPr>
          <p:cNvPr id="22" name="Oval 21"/>
          <p:cNvSpPr/>
          <p:nvPr/>
        </p:nvSpPr>
        <p:spPr>
          <a:xfrm>
            <a:off x="7326956" y="2743200"/>
            <a:ext cx="694944" cy="694944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2012</a:t>
            </a:r>
          </a:p>
        </p:txBody>
      </p:sp>
      <p:sp>
        <p:nvSpPr>
          <p:cNvPr id="23" name="Oval 22"/>
          <p:cNvSpPr/>
          <p:nvPr/>
        </p:nvSpPr>
        <p:spPr>
          <a:xfrm>
            <a:off x="7464116" y="3172968"/>
            <a:ext cx="146304" cy="14630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44076" y="3401568"/>
            <a:ext cx="16851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Doudna &amp; Charpentier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6916" y="3749039"/>
            <a:ext cx="19594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CRISPR-Cas9 gene editing developed</a:t>
            </a:r>
          </a:p>
        </p:txBody>
      </p:sp>
      <p:sp>
        <p:nvSpPr>
          <p:cNvPr id="26" name="Oval 25"/>
          <p:cNvSpPr/>
          <p:nvPr/>
        </p:nvSpPr>
        <p:spPr>
          <a:xfrm>
            <a:off x="8920625" y="2743200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2017</a:t>
            </a:r>
          </a:p>
        </p:txBody>
      </p:sp>
      <p:sp>
        <p:nvSpPr>
          <p:cNvPr id="27" name="Oval 26"/>
          <p:cNvSpPr/>
          <p:nvPr/>
        </p:nvSpPr>
        <p:spPr>
          <a:xfrm>
            <a:off x="9057785" y="3172968"/>
            <a:ext cx="146304" cy="14630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37745" y="3401568"/>
            <a:ext cx="16851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FDA Approval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00585" y="3749039"/>
            <a:ext cx="19594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First gene therapy (Luxturna) approved for blindness</a:t>
            </a:r>
          </a:p>
        </p:txBody>
      </p:sp>
      <p:sp>
        <p:nvSpPr>
          <p:cNvPr id="30" name="Oval 29"/>
          <p:cNvSpPr/>
          <p:nvPr/>
        </p:nvSpPr>
        <p:spPr>
          <a:xfrm>
            <a:off x="10514293" y="2743200"/>
            <a:ext cx="694944" cy="694944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2023</a:t>
            </a:r>
          </a:p>
        </p:txBody>
      </p:sp>
      <p:sp>
        <p:nvSpPr>
          <p:cNvPr id="31" name="Oval 30"/>
          <p:cNvSpPr/>
          <p:nvPr/>
        </p:nvSpPr>
        <p:spPr>
          <a:xfrm>
            <a:off x="10651453" y="3172968"/>
            <a:ext cx="146304" cy="146304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31413" y="3401568"/>
            <a:ext cx="16851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65A82"/>
                </a:solidFill>
                <a:latin typeface="Calibri"/>
              </a:rPr>
              <a:t>CRISPR Milestone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4253" y="3749039"/>
            <a:ext cx="19594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64748B"/>
                </a:solidFill>
                <a:latin typeface="Calibri"/>
              </a:rPr>
              <a:t>First CRISPR therapy (Casgevy) approved for sickle cell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1234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1950s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1234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1970s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0440" y="1234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1990s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1234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2000s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1234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2010s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1234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2017–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12344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7293"/>
                </a:solidFill>
                <a:latin typeface="Calibri"/>
              </a:rPr>
              <a:t>2023+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078992"/>
            <a:ext cx="11521440" cy="457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20040" y="1143000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70 YEARS OF BREAKTHROUGHS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Types of Gene Therapy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143000"/>
            <a:ext cx="5440680" cy="521208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143000"/>
            <a:ext cx="5440680" cy="9144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61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1  SOMATIC GENE THERAPY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6916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7293"/>
                </a:solidFill>
                <a:latin typeface="Calibri"/>
              </a:rPr>
              <a:t>Targets non-reproductive body cells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13716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Target cells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75688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Muscle, liver, lung, blood cells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87168"/>
            <a:ext cx="13716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4871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Inheritance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505456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Changes NOT passed to offspring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16935"/>
            <a:ext cx="13716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5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Safety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935223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Lower ethical concern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46703"/>
            <a:ext cx="13716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34670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Examples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3364991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CAR-T cell therapy, ADA-SCID treatment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76471"/>
            <a:ext cx="13716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7647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Approved therapies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20240" y="3794759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Zolgensma, Luxturna, Hemgenix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206239"/>
            <a:ext cx="13716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2062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224527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In vivo (in the body) or ex vivo (outside body)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636007"/>
            <a:ext cx="137160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636007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Current status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4654295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Clinically approved &amp; widely researched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80760" y="1143000"/>
            <a:ext cx="5806440" cy="521208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080760" y="1143000"/>
            <a:ext cx="5806440" cy="914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60" y="1261872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65A82"/>
                </a:solidFill>
                <a:latin typeface="Calibri"/>
              </a:rPr>
              <a:t>2  GERMLINE GENE THERAPY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C7293"/>
                </a:solidFill>
                <a:latin typeface="Calibri"/>
              </a:rPr>
              <a:t>Targets reproductive cells (eggs/sperm/embryos)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2057400"/>
            <a:ext cx="1371600" cy="320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20574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Target cells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0960" y="2075688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Eggs, sperm, embryonic cells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2487168"/>
            <a:ext cx="1371600" cy="320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0" y="248716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Inheritance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2505456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Changes PASSED to all future generations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2916935"/>
            <a:ext cx="1371600" cy="320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2916935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Safety concern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80960" y="2935223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Extremely high — irreversible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346703"/>
            <a:ext cx="1371600" cy="320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0" y="3346703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Examples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364991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CRISPR on human embryos (He Jiankui case)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3776471"/>
            <a:ext cx="1371600" cy="320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377647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Legal status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3794759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BANNED in most countries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206239"/>
            <a:ext cx="1371600" cy="320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42062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Ethical issue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680960" y="4224527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'Designer babies' risk and eugenics concern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4636007"/>
            <a:ext cx="1371600" cy="3200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4636007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Research use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80960" y="4654295"/>
            <a:ext cx="4023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Limited to lab models only (not clinical)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Methods of Gene Delivery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115568"/>
            <a:ext cx="6858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VIRAL VECTORS  (Most Common – ~70% of trials)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99616"/>
            <a:ext cx="11521440" cy="4572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572768"/>
            <a:ext cx="274320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72768"/>
            <a:ext cx="2615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Adeno-Associated
Virus (AAV)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075688"/>
            <a:ext cx="2743200" cy="20574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21214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Most widely used vector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5786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Low immune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30358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Treats eye/muscle/nervous disorders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4930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Example: Zolgensma (SMA)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572768"/>
            <a:ext cx="2743200" cy="50292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64408" y="1572768"/>
            <a:ext cx="2615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Retrovirus /
Lentivirus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2075688"/>
            <a:ext cx="2743200" cy="20574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0" y="21214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Integrates into host DNA permanently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25786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Treats blood &amp; immune disorders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0358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Risk: insertional mutagenesis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34930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Example: CAR-T cell therapy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80759" y="1572768"/>
            <a:ext cx="2743200" cy="50292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1572768"/>
            <a:ext cx="2615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Adenovirus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80759" y="2075688"/>
            <a:ext cx="2743200" cy="20574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72199" y="21214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Efficient gene delivery, broad tropism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199" y="25786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Does NOT integrate into host DNA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72199" y="30358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High immunogenicity drawback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2199" y="34930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Used in COVID-19 vaccines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19" y="1572768"/>
            <a:ext cx="2743200" cy="5029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25128" y="1572768"/>
            <a:ext cx="26151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Herpes Simplex
Virus (HSV)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19" y="2075688"/>
            <a:ext cx="2743200" cy="20574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59" y="21214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Large gene cargo capacity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59" y="25786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Targets neurons effectively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52559" y="30358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Used in pain &amp; neurological research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59" y="3493008"/>
            <a:ext cx="256032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▸ Less used clinically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4251960"/>
            <a:ext cx="8229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Calibri"/>
              </a:rPr>
              <a:t>NON-VIRAL METHODS  (Emerging – Safer, Less Efficient)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663440"/>
            <a:ext cx="2743200" cy="4572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59" y="4663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2C39A"/>
                </a:solidFill>
                <a:latin typeface="Calibri"/>
              </a:rPr>
              <a:t>Lipid
Nanoparticles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120640"/>
            <a:ext cx="2743200" cy="1417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79" y="5166360"/>
            <a:ext cx="2560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Coat DNA/mRNA in lipid bubble; used in mRNA COVID vaccines; efficient delivery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0" y="4663440"/>
            <a:ext cx="2743200" cy="4572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46120" y="4663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2C39A"/>
                </a:solidFill>
                <a:latin typeface="Calibri"/>
              </a:rPr>
              <a:t>Electroporation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0" y="5120640"/>
            <a:ext cx="2743200" cy="1417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291840" y="5166360"/>
            <a:ext cx="2560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Electric pulse opens cell pores temporarily; allows DNA entry; used ex vivo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80759" y="4663440"/>
            <a:ext cx="2743200" cy="4572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79" y="4663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2C39A"/>
                </a:solidFill>
                <a:latin typeface="Calibri"/>
              </a:rPr>
              <a:t>Gene Gun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80759" y="5120640"/>
            <a:ext cx="2743200" cy="1417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199" y="5166360"/>
            <a:ext cx="2560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Coats gold beads with DNA, fired into tissue; used in agriculture &amp; vaccines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19" y="4663440"/>
            <a:ext cx="2743200" cy="4572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06840" y="46634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2C39A"/>
                </a:solidFill>
                <a:latin typeface="Calibri"/>
              </a:rPr>
              <a:t>Naked DNA
Injection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961119" y="5120640"/>
            <a:ext cx="2743200" cy="1417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52559" y="5166360"/>
            <a:ext cx="25603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  <a:latin typeface="Calibri"/>
              </a:rPr>
              <a:t>Direct injection of plasmid DNA; simple but low efficiency; used in muscle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Genetic Engineering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80" y="1115568"/>
            <a:ext cx="2788920" cy="53035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115568"/>
            <a:ext cx="2788920" cy="7315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320" y="1188720"/>
            <a:ext cx="1005840" cy="1005840"/>
          </a:xfrm>
          <a:prstGeom prst="ellipse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123444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Recombinant DNA
Technology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" y="1901952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Cut DNA with restriction enzymes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Insert gene into plasmid vector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584448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Transform into host cell (bacteria/yeast)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" y="4425696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Express desired protein at scale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" y="5266944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Example: Insulin production via E. coli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1115568"/>
            <a:ext cx="2788920" cy="53035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00400" y="1115568"/>
            <a:ext cx="278892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91840" y="1188720"/>
            <a:ext cx="1005840" cy="1005840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13632" y="123444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CRISPR-Cas9
Gene Editing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10128" y="1901952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Guide RNA directs Cas9 to target DNA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Cas9 cuts double-stranded DNA precisely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3584448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Cell repair inserts/deletes/replaces gene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4425696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Cheap, fast, highly precise &amp; programmable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0128" y="5266944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Nobel Prize 2020 – Doudna &amp; Charpentier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1115568"/>
            <a:ext cx="2788920" cy="53035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115568"/>
            <a:ext cx="278892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09359" y="1188720"/>
            <a:ext cx="1005840" cy="1005840"/>
          </a:xfrm>
          <a:prstGeom prst="ellipse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31152" y="123444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090"/>
                </a:solidFill>
                <a:latin typeface="Calibri"/>
              </a:rPr>
              <a:t>Gene Cloning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7648" y="1901952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Isolate gene of interest from organism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7648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Insert into cloning vector (plasmid)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7648" y="3584448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Replicate in bacteria to produce many copies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7648" y="4425696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Used to study gene function &amp; produce proteins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5266944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Basis of PCR &amp; molecular diagnostics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35439" y="1115568"/>
            <a:ext cx="2788920" cy="53035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35439" y="1115568"/>
            <a:ext cx="2788920" cy="73152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9326879" y="1188720"/>
            <a:ext cx="1005840" cy="1005840"/>
          </a:xfrm>
          <a:prstGeom prst="ellipse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1" y="123444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Zinc Finger &amp;
TALEN Editing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45167" y="1901952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Earlier protein-based gene editing tools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274320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Zinc fingers bind specific DNA sequences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45167" y="3584448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TALENs use TALE proteins + FokI nuclease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45167" y="4425696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More complex &amp; expensive than CRISPR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45167" y="5266944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  <a:latin typeface="Calibri"/>
              </a:rPr>
              <a:t>▸ Still used in some therapeutic contexts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CRISPR-Cas9: Mechanism Explained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70432"/>
            <a:ext cx="96012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170432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STEP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517904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124358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Design sgRNA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1591056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A 20-nucleotide guide RNA (sgRNA) is designed to match the target DNA sequence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2039112"/>
            <a:ext cx="109728" cy="2103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249424"/>
            <a:ext cx="960120" cy="8686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2249424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STEP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596896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23225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sgRNA Binds Cas9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53312" y="2670048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The sgRNA binds to Cas9 protein, forming an active ribonucleoprotein complex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" y="3118104"/>
            <a:ext cx="109728" cy="2103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328415"/>
            <a:ext cx="96012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3328415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STEP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3675887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34015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DNA Scanning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53312" y="3749039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The complex scans along the DNA strand, searching for the complementary sequence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97096"/>
            <a:ext cx="109728" cy="2103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4320" y="4407408"/>
            <a:ext cx="960120" cy="86868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" y="4407408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STEP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4754880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53312" y="44805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Double-Strand Cut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53312" y="4828032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Cas9 creates a precise double-strand break (DSB) at the target location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76088"/>
            <a:ext cx="109728" cy="21031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" y="5486400"/>
            <a:ext cx="960120" cy="86868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5486400"/>
            <a:ext cx="960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STEP 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" y="5833872"/>
            <a:ext cx="960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53312" y="55595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DNA Repair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53312" y="5907024"/>
            <a:ext cx="4114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64748B"/>
                </a:solidFill>
                <a:latin typeface="Calibri"/>
              </a:rPr>
              <a:t>Cell repairs via NHEJ (mutation) or HDR (precise gene insertion using a template)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06440" y="1078992"/>
            <a:ext cx="6035040" cy="5349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80" y="1115568"/>
            <a:ext cx="5852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2C39A"/>
                </a:solidFill>
                <a:latin typeface="Calibri"/>
              </a:rPr>
              <a:t>CRISPR-Cas9 MECHANISM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0" y="169164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0058400" y="169164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656832" y="1737360"/>
            <a:ext cx="340156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583680" y="1892808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58400" y="1892808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656832" y="1938528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583680" y="209397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58400" y="209397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656832" y="2139696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583680" y="229514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058400" y="229514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656832" y="2340864"/>
            <a:ext cx="340156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583680" y="2496312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058400" y="2496312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656832" y="2542032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583680" y="269748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058400" y="269748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656832" y="2743200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583680" y="2898648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058400" y="2898648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656832" y="2944368"/>
            <a:ext cx="340156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583680" y="309981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058400" y="309981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656832" y="3145536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583680" y="330098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058400" y="330098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656832" y="3346704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583680" y="3502152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058400" y="3502152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583680" y="3502152"/>
            <a:ext cx="3566160" cy="54864"/>
          </a:xfrm>
          <a:prstGeom prst="rect">
            <a:avLst/>
          </a:prstGeom>
          <a:solidFill>
            <a:srgbClr val="FF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583680" y="357530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5555"/>
                </a:solidFill>
                <a:latin typeface="Calibri"/>
              </a:rPr>
              <a:t>✂ CUT SITE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83680" y="370332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058400" y="370332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656832" y="3749040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583680" y="3904487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058400" y="3904487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656832" y="3950207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583680" y="410565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058400" y="410565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656832" y="4151376"/>
            <a:ext cx="340156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3680" y="430682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058400" y="430682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656832" y="4352544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583680" y="4507992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058400" y="4507992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656832" y="4553712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583680" y="470916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058400" y="4709160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656832" y="4754880"/>
            <a:ext cx="340156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583680" y="4910328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058400" y="4910328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656832" y="4956048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583680" y="511149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58400" y="5111496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656832" y="5157216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583680" y="531266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058400" y="5312664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656832" y="5358384"/>
            <a:ext cx="3401568" cy="548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6583680" y="5513831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058400" y="5513831"/>
            <a:ext cx="73152" cy="16459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6656832" y="5559551"/>
            <a:ext cx="3401568" cy="54864"/>
          </a:xfrm>
          <a:prstGeom prst="rect">
            <a:avLst/>
          </a:prstGeom>
          <a:solidFill>
            <a:srgbClr val="4A9E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7772400" y="2468880"/>
            <a:ext cx="1645920" cy="10058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7772400" y="2468880"/>
            <a:ext cx="1645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Cas9
Protein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680960" y="1920240"/>
            <a:ext cx="1828800" cy="41148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0960" y="19202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21295C"/>
                </a:solidFill>
                <a:latin typeface="Calibri"/>
              </a:rPr>
              <a:t>sgRNA (Guide)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897880" y="493776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D8FF"/>
                </a:solidFill>
                <a:latin typeface="Calibri"/>
              </a:rPr>
              <a:t>▸ NHEJ Repair → Gene Knockout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897880" y="53492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D8FF"/>
                </a:solidFill>
                <a:latin typeface="Calibri"/>
              </a:rPr>
              <a:t>▸ HDR Repair → Precise Gene Insertion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897880" y="583387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0D8FF"/>
                </a:solidFill>
                <a:latin typeface="Calibri"/>
              </a:rPr>
              <a:t>▸ Nobel Prize 2020: Doudna &amp; Charpentier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Medical Applications of Gene Therapy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6032" y="1143000"/>
            <a:ext cx="3794760" cy="26060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143000"/>
            <a:ext cx="3794760" cy="7315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5272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🩸 Inherited Blood
Disorders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801368"/>
            <a:ext cx="3566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Sickle cell disease &amp; Beta-thalassemia: Casgevy (CRISPR-based) FDA-approved 2023. Hemophilia A/B treated with AAV vectors (Hemgenix).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Casgevy – CRISPR sickle cell cure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09067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Zolgensma – SMA gene therapy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39242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Hemgenix – Hemophilia B (AAV5)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3672" y="1143000"/>
            <a:ext cx="3794760" cy="26060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33672" y="1143000"/>
            <a:ext cx="379476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43400" y="125272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🧠 Neurological
Conditions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1801368"/>
            <a:ext cx="3566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Spinal Muscular Atrophy (SMA), Parkinson's, and Huntington's disease are active gene therapy targets.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278892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SMA treated with Zolgensma (one-time dose)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09067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Clinical trials for Parkinson's underway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339242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Huntington's: RNA interference trials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11311" y="1143000"/>
            <a:ext cx="3794760" cy="26060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11311" y="1143000"/>
            <a:ext cx="37947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125272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090"/>
                </a:solidFill>
                <a:latin typeface="Calibri"/>
              </a:rPr>
              <a:t>👁 Eye Diseases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9" y="1801368"/>
            <a:ext cx="3566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Luxturna – First FDA-approved gene therapy for inherited retinal dystrophy caused by RPE65 mutations. Restores functional vision.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278892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Luxturna (voretigene) – RPE65 mutation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309067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Age-related macular degeneration trials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339242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Stargardt disease research active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" y="3931920"/>
            <a:ext cx="3794760" cy="26060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56032" y="3931920"/>
            <a:ext cx="3794760" cy="73152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40416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🦠 Cancer
Immunotherapy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4590288"/>
            <a:ext cx="3566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CAR-T cell therapy engineers patient's own T-cells to target and destroy cancer cells. Approved for leukemia &amp; lymphoma.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557784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CAR-T: Kymriah &amp; Yescarta approved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587959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Oncolytic virus therapy (T-VEC)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18134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Checkpoint inhibitor gene-based combos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33672" y="3931920"/>
            <a:ext cx="3794760" cy="26060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33672" y="3931920"/>
            <a:ext cx="379476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43400" y="40416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💉 Infectious
Diseases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400" y="4590288"/>
            <a:ext cx="3566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HIV: gene editing of CCR5 receptor confers resistance. COVID-19 mRNA vaccines use lipid nanoparticle gene delivery.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43400" y="557784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mRNA vaccines (COVID-19, RSV, flu)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587959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HIV: CCR5-delta32 gene editing trials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43400" y="618134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Hepatitis B/C gene silencing (RNAi)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11311" y="3931920"/>
            <a:ext cx="3794760" cy="26060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11311" y="3931920"/>
            <a:ext cx="3794760" cy="7315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1039" y="4041648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🧬 Rare Genetic
Syndromes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39" y="4590288"/>
            <a:ext cx="356616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Hundreds of rare monogenic diseases (ADA-SCID, Gaucher, Pompe disease) are addressable with gene therapy.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39" y="5577840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ADA-SCID: first ever gene therapy 1990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39" y="5879592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Gaucher disease enzyme replacement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39" y="6181344"/>
            <a:ext cx="3566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5A82"/>
                </a:solidFill>
                <a:latin typeface="Calibri"/>
              </a:rPr>
              <a:t>▸ Pompe disease AAV trials active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Genetic Engineering in Agriculture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11612880" cy="96012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1430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2C39A"/>
                </a:solidFill>
                <a:latin typeface="Calibri"/>
              </a:rPr>
              <a:t>~190M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7276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CE0"/>
                </a:solidFill>
                <a:latin typeface="Calibri"/>
              </a:rPr>
              <a:t>Hectares of GM crops globally (2023)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03320" y="11430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2C39A"/>
                </a:solidFill>
                <a:latin typeface="Calibr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57276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CE0"/>
                </a:solidFill>
                <a:latin typeface="Calibri"/>
              </a:rPr>
              <a:t>Countries growing GM crops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1430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2C39A"/>
                </a:solidFill>
                <a:latin typeface="Calibri"/>
              </a:rPr>
              <a:t>$20B+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157276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CE0"/>
                </a:solidFill>
                <a:latin typeface="Calibri"/>
              </a:rPr>
              <a:t>Annual economic benefit to farmers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64040" y="11430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02C39A"/>
                </a:solidFill>
                <a:latin typeface="Calibri"/>
              </a:rPr>
              <a:t>70%+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572768"/>
            <a:ext cx="2651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CE0"/>
                </a:solidFill>
                <a:latin typeface="Calibri"/>
              </a:rPr>
              <a:t>US soybean crop is GM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2194560"/>
            <a:ext cx="3794760" cy="21031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6032" y="2194560"/>
            <a:ext cx="3794760" cy="7315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0428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🌽  Pest &amp; Disease
Resistance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834639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Bt crops (Bacillus thuringiensis toxin gene)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218687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Kills insects without chemical pesticides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602735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Bt cotton, Bt corn, Bt brinjal (eggplant)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98678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Reduces crop losses up to 60%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33672" y="2194560"/>
            <a:ext cx="3794760" cy="21031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33672" y="2194560"/>
            <a:ext cx="379476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43400" y="230428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🌾  Herbicide
Tolerance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2834639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Roundup Ready crops (glyphosate resistant)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3218687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Farmers spray herbicide, only weeds die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602735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Soybean, maize, canola, cotton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98678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Controversial due to herbicide overuse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11311" y="2194560"/>
            <a:ext cx="3794760" cy="21031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11311" y="2194560"/>
            <a:ext cx="3794760" cy="7315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39" y="230428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8090"/>
                </a:solidFill>
                <a:latin typeface="Calibri"/>
              </a:rPr>
              <a:t>🍅  Improved
Nutritional Value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39" y="2834639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Golden Rice: beta-carotene (Vitamin A) added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39" y="3218687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High-lysine corn for better protein profile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39" y="3602735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Omega-3 enriched soybeans (SDA soybean)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9" y="398678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Addresses malnutrition in developing countries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6032" y="4480560"/>
            <a:ext cx="3794760" cy="21031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56032" y="4480560"/>
            <a:ext cx="3794760" cy="73152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459028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1295C"/>
                </a:solidFill>
                <a:latin typeface="Calibri"/>
              </a:rPr>
              <a:t>🌧  Drought &amp;
Stress Tolerance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" y="512064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DroughtGard maize survives water scarcity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550468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Salt-tolerant crops for marginal land use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5760" y="58887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Cold-tolerant plants for early planting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27278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Critical for climate change adaptation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3672" y="4480560"/>
            <a:ext cx="3794760" cy="21031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233672" y="4480560"/>
            <a:ext cx="3794760" cy="7315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43400" y="459028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🐟  Animals &amp;
Aquaculture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43400" y="512064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AquAdvantage salmon: faster growth rate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43400" y="550468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Disease-resistant livestock via gene editing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43400" y="58887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CRISPR hornless cattle (no dehorning needed)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43400" y="627278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Pigs modified for organ xenotransplantation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11311" y="4480560"/>
            <a:ext cx="3794760" cy="21031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11311" y="4480560"/>
            <a:ext cx="379476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39" y="459028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7293"/>
                </a:solidFill>
                <a:latin typeface="Calibri"/>
              </a:rPr>
              <a:t>🌿  Biofuel &amp;
Industrial Use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39" y="512064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High-starch/sugar crops for ethanol production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21039" y="550468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Jatropha engineered for biodiesel yield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21039" y="58887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Algae engineered to produce oil efficiently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39" y="627278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Reduce dependence on fossil fuels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Advantages &amp; Benefits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252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30759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Targeted Treatment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0136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Corrects the root genetic cause of disease — not just symptoms. One-time treatment can be curative for life.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18688" y="114300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18688" y="114300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252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13048" y="130759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Reduced Drug Dependence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10128" y="180136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Patients may no longer need lifelong medication. Example: hemophilia patients avoiding factor replacement therapy.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14300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14300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6" y="1252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3136" y="130759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Personalized Medicine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80136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Therapy tailored to an individual's unique genome. Pharmacogenomics optimizes drug selection and dose.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8864" y="114300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98864" y="114300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90304" y="12527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30759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Vaccine Revolution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0304" y="180136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mRNA vaccines (COVID-19) deliver genetic instructions for immunity — faster production, easier modification.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8600" y="379476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8600" y="379476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39593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Food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45312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GM crops resist pests, drought, and disease — boosting yields and reducing famine in vulnerable regions.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18688" y="379476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18688" y="379476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310128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🧫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3048" y="39593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Disease Prevention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445312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Germline editing could theoretically eliminate hereditary disorders (e.g., BRCA mutations) before birth.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08776" y="379476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08776" y="379476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0216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⚡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03136" y="39593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Rapid Drug Production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445312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Recombinant proteins (insulin, erythropoietin, growth hormone) produced cheaply and abundantly in bacteria.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98864" y="3794760"/>
            <a:ext cx="2834640" cy="242316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98864" y="3794760"/>
            <a:ext cx="283464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90304" y="390448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65A82"/>
                </a:solidFill>
                <a:latin typeface="Calibri"/>
              </a:rPr>
              <a:t>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93224" y="3959352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Research Acceleration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0304" y="4453128"/>
            <a:ext cx="26517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CRISPR enables rapid gene function studies. Animal models of disease created in weeks instead of years.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Risks, Safety Concerns &amp; Ethical Debates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143000"/>
            <a:ext cx="3749039" cy="52578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43000"/>
            <a:ext cx="3749039" cy="457200"/>
          </a:xfrm>
          <a:prstGeom prst="rect">
            <a:avLst/>
          </a:prstGeom>
          <a:solidFill>
            <a:srgbClr val="BF36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17043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⚠  SAFETY 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6916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F3636"/>
                </a:solidFill>
                <a:latin typeface="Calibri"/>
              </a:rPr>
              <a:t>▸ Immune Reactions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65960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Viral vectors may trigger severe immune responses (e.g., Jesse Gelsinger death, 1999)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6243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F3636"/>
                </a:solidFill>
                <a:latin typeface="Calibri"/>
              </a:rPr>
              <a:t>▸ Off-Target Effects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8648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CRISPR may cut unintended genomic sites, causing mutations or cancer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55701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F3636"/>
                </a:solidFill>
                <a:latin typeface="Calibri"/>
              </a:rPr>
              <a:t>▸ Insertional Mutagenesis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831336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Retroviral integration near oncogenes can cause leukemia (observed in early ADA-SCID trials)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489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F3636"/>
                </a:solidFill>
                <a:latin typeface="Calibri"/>
              </a:rPr>
              <a:t>▸ Long-term Unknowns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4764024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Long-term safety of gene modifications not yet fully known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542239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F3636"/>
                </a:solidFill>
                <a:latin typeface="Calibri"/>
              </a:rPr>
              <a:t>▸ Delivery Challenges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696712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Reaching all target cells efficiently, especially in large organs, remains difficult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06240" y="1143000"/>
            <a:ext cx="3749039" cy="52578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06240" y="1143000"/>
            <a:ext cx="3749039" cy="4572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43400" y="1170432"/>
            <a:ext cx="3474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⚖  ETHICAL DEBATES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1691640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Designer Babies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1965960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Selecting traits (intelligence, appearance) raises eugenics concerns and inequality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624328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Informed Consent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400" y="2898648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Future generations affected by germline edits cannot consent to changes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3400" y="3557016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Access &amp; Equity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831336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Gene therapies cost $1–3 million; only wealthy nations/patients can afford them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4489704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Playing God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4764024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Philosophical/religious debates about humans altering the fundamental code of life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542239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95C"/>
                </a:solidFill>
                <a:latin typeface="Calibri"/>
              </a:rPr>
              <a:t>▸ Dual-Use Risk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5696712"/>
            <a:ext cx="34747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CRISPR knowledge could be misused for bioweapons or harmful pathogens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1143000"/>
            <a:ext cx="3794760" cy="52578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38160" y="1143000"/>
            <a:ext cx="3794760" cy="4572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17043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📋  REGULATORY OVERVIEW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75320" y="1691640"/>
            <a:ext cx="109728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1691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FDA (USA)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0" y="1691640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Strict IND &amp; BLA approval needed. Monitors all gene therapy trials.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20" y="2624328"/>
            <a:ext cx="109728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75320" y="26243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EMA (Europe)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64040" y="2624328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Centralized ATMP (Advanced Therapy) approval process.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75320" y="3557016"/>
            <a:ext cx="109728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75320" y="355701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WHO Guidelines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557016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Global ethical framework; opposes germline editing in humans.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75320" y="4489704"/>
            <a:ext cx="109728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75320" y="448970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Moratorium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4489704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International consensus: no clinical germline editing until safe &amp; ethical.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275320" y="5422392"/>
            <a:ext cx="1097280" cy="3200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54223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He Jiankui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464040" y="5422392"/>
            <a:ext cx="2331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64748B"/>
                </a:solidFill>
                <a:latin typeface="Calibri"/>
              </a:rPr>
              <a:t>Chinese researcher jailed 3 years for illegal CRISPR baby experiments (2018).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Current Research &amp; 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115568"/>
            <a:ext cx="3794760" cy="25146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15568"/>
            <a:ext cx="379476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" y="1225295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🤖  AI &amp; Machine
Learning in Genomics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828800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AlphaFold2 predicted protein structures of all known proteins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" y="2258568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AI designs optimized guide RNAs for CRISPR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" y="2688335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ML predicts off-target CRISPR cuts before editing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" y="3118103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AI-driven drug target identification from genomic data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115568"/>
            <a:ext cx="3794760" cy="25146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0" y="1115568"/>
            <a:ext cx="379476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5968" y="1225295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✂  Next-Gen Gene
Editing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1828800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Base editing: changes single DNA letters without cuts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5968" y="2258568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Prime editing: 'search and replace' for any mutation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5968" y="2688335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Epigenome editing: modifies gene expression without changing DNA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5968" y="3118103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CRISPR-Cas12 &amp; Cas13: DNA and RNA targeting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1115568"/>
            <a:ext cx="3794760" cy="25146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83879" y="1115568"/>
            <a:ext cx="379476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7" y="1225295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💊  In Vivo Gene
Editing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7" y="1828800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Delivering CRISPR directly into living patients via LNPs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7" y="2258568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NTLA-2001: CRISPR therapy for transthyretin amyloidosis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93607" y="2688335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Intellia &amp; Regeneron in vivo liver-targeted trials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93607" y="3118103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Goal: treat diseases without removing cells from body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" y="3840480"/>
            <a:ext cx="3794760" cy="25146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8600" y="3840480"/>
            <a:ext cx="379476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8328" y="3950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🧬  Whole Genome
Sequencing (WGS)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" y="4553712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Cost dropped from $3 billion (2003) to &lt;$200 today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" y="4983480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Newborn genomic screening programs being piloted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" y="5413248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Prenatal genetic diagnosis at single-cell level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" y="5843016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Population genomics for disease risk profiling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06240" y="3840480"/>
            <a:ext cx="3794760" cy="25146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06240" y="3840480"/>
            <a:ext cx="3794760" cy="73152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5968" y="3950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🌍  Global Gene
Therapy Access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15968" y="4553712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mRNA platform allows rapid vaccine &amp; therapy development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15968" y="4983480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Gates Foundation funds gene therapy for malaria &amp; HIV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5413248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Low-cost CRISPR kits now used in developing countries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15968" y="5843016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WHO 2030 roadmap for equitable genomic medicine access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183879" y="3840480"/>
            <a:ext cx="3794760" cy="251460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83879" y="3840480"/>
            <a:ext cx="3794760" cy="7315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93607" y="3950208"/>
            <a:ext cx="3566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5A82"/>
                </a:solidFill>
                <a:latin typeface="Calibri"/>
              </a:rPr>
              <a:t>🔮  Predictions
for 2030–2040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3607" y="4553712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&gt;50 gene therapies routinely approved worldwide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93607" y="4983480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CRISPR used to cure HIV, Alzheimer's, common cancers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93607" y="5413248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Personalized cancer vaccines based on tumor genome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93607" y="5843016"/>
            <a:ext cx="3566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2E"/>
                </a:solidFill>
                <a:latin typeface="Calibri"/>
              </a:rPr>
              <a:t>▸ Potential extension of healthy lifespan via longevity genes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Real-World Case Studies &amp; Success Stories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28600" y="1115568"/>
            <a:ext cx="5760720" cy="2560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15568"/>
            <a:ext cx="5760720" cy="77724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" y="115214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DDFF"/>
                </a:solidFill>
                <a:latin typeface="Calibri"/>
              </a:rPr>
              <a:t>CASE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" y="1371600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Ashanthi DeSilva – (ADA-SCID, 1990)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" y="1993391"/>
            <a:ext cx="114300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" y="199339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93391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Adenosine Deaminase Deficiency (SCID) – severe combined immunodeficiency, no immune system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" y="2569463"/>
            <a:ext cx="114300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8328" y="256946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569463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First approved human gene therapy. Retroviral vector delivered functional ADA gene into T-cells ex vivo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" y="3145535"/>
            <a:ext cx="1143000" cy="256032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145535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Immune system restored. Ashanthi is alive and healthy 30+ years later — the first gene therapy success 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115568"/>
            <a:ext cx="5760720" cy="2560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115568"/>
            <a:ext cx="5760720" cy="777240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27648" y="115214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DDFF"/>
                </a:solidFill>
                <a:latin typeface="Calibri"/>
              </a:rPr>
              <a:t>CASE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27648" y="1371600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Sickle Cell Disease – (Casgevy, 2023)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27648" y="1993391"/>
            <a:ext cx="11430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199339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DISEASE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1993391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Sickle Cell Disease – mutant HBB gene causes deformed red blood cells, severe pain crises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27648" y="2569463"/>
            <a:ext cx="11430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7648" y="256946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9463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CRISPR-Cas9 edits BCL11A gene to reactivate fetal hemoglobin (HbF), compensating for defective adult hemoglobin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27648" y="3145535"/>
            <a:ext cx="1143000" cy="256032"/>
          </a:xfrm>
          <a:prstGeom prst="rect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314553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3145535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FDA-approved Nov 2023. 94% of patients pain-crisis-free at 1 year. First approved CRISPR therapy globally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904487"/>
            <a:ext cx="5760720" cy="2560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3904487"/>
            <a:ext cx="5760720" cy="777240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8" y="3941063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DDFF"/>
                </a:solidFill>
                <a:latin typeface="Calibri"/>
              </a:rPr>
              <a:t>CASE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" y="4160520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Inherited Blindness – (Luxturna, 2017)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" y="4782312"/>
            <a:ext cx="1143000" cy="2560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8328" y="47823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DISEASE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782312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Leber Congenital Amaurosis – RPE65 gene mutation causes progressive blindness from childhood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" y="5358383"/>
            <a:ext cx="1143000" cy="2560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" y="535838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358383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AAV2 vector delivers functional RPE65 gene directly into subretinal space via surgical injection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8328" y="5934455"/>
            <a:ext cx="1143000" cy="256032"/>
          </a:xfrm>
          <a:prstGeom prst="rect">
            <a:avLst/>
          </a:prstGeom>
          <a:solidFill>
            <a:srgbClr val="028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38328" y="593445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54480" y="5934455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FDA-approved 2017. Restored functional vision in both eyes. Patient can navigate independently in dim light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3904487"/>
            <a:ext cx="5760720" cy="256032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217920" y="3904487"/>
            <a:ext cx="5760720" cy="77724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27648" y="3941063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BBDDFF"/>
                </a:solidFill>
                <a:latin typeface="Calibri"/>
              </a:rPr>
              <a:t>CASE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7648" y="4160520"/>
            <a:ext cx="53949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Spinal Muscular – Atrophy (Zolgensma)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27648" y="4782312"/>
            <a:ext cx="1143000" cy="256032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27648" y="47823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DISEASE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43800" y="4782312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SMA Type 1 – SMN1 gene deletion causes motor neuron death; children unable to breathe/swallow by age 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27648" y="5358383"/>
            <a:ext cx="1143000" cy="256032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535838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43800" y="5358383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AAV9 vector delivers SMN1 gene via single IV infusion (onasemnogene abeparvovec)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27648" y="5934455"/>
            <a:ext cx="1143000" cy="256032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934455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OUTCOME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43800" y="5934455"/>
            <a:ext cx="4315968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Most expensive drug ever at $2.1M — but one-time cure. 91% of treated infants alive at age 2 (vs &lt;8% untreated)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200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2C39A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3152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5" name="Oval 4"/>
          <p:cNvSpPr/>
          <p:nvPr/>
        </p:nvSpPr>
        <p:spPr>
          <a:xfrm>
            <a:off x="685800" y="1508760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0432" y="1527048"/>
            <a:ext cx="10698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  <a:latin typeface="Calibri"/>
              </a:rPr>
              <a:t>Gene therapy corrects disease at the genetic root, offering potential one-time cures for hereditary conditions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313432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2331720"/>
            <a:ext cx="10698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  <a:latin typeface="Calibri"/>
              </a:rPr>
              <a:t>CRISPR-Cas9 has revolutionized genetic engineering — precise, affordable, and programmable gene editing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118104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136392"/>
            <a:ext cx="10698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  <a:latin typeface="Calibri"/>
              </a:rPr>
              <a:t>Approved therapies (Casgevy, Zolgensma, Luxturna, CAR-T) demonstrate the real-world power of gene therapy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22776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3941063"/>
            <a:ext cx="10698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  <a:latin typeface="Calibri"/>
              </a:rPr>
              <a:t>Genetic engineering in agriculture improves food security through GM crops with enhanced traits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727448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4745736"/>
            <a:ext cx="10698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  <a:latin typeface="Calibri"/>
              </a:rPr>
              <a:t>Ethical oversight is essential — germline editing, designer babies, and access inequality demand global governance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5532120"/>
            <a:ext cx="694944" cy="694944"/>
          </a:xfrm>
          <a:prstGeom prst="ellipse">
            <a:avLst/>
          </a:prstGeom>
          <a:solidFill>
            <a:srgbClr val="1C72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5550408"/>
            <a:ext cx="106984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E5FF"/>
                </a:solidFill>
                <a:latin typeface="Calibri"/>
              </a:rPr>
              <a:t>The integration of AI, advanced vectors, and base/prime editing promises an extraordinary future for medicine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" y="6419088"/>
            <a:ext cx="11109960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6492240"/>
            <a:ext cx="11109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80A8C8"/>
                </a:solidFill>
                <a:latin typeface="Calibri"/>
              </a:rPr>
              <a:t>"The ability to rewrite the code of life is the most powerful tool in the history of medicine."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7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References &amp; Further 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54864"/>
          </a:xfrm>
          <a:prstGeom prst="rect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5760720" cy="53492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172200" y="1097280"/>
            <a:ext cx="5760720" cy="5349240"/>
          </a:xfrm>
          <a:prstGeom prst="rect">
            <a:avLst/>
          </a:prstGeom>
          <a:solidFill>
            <a:srgbClr val="E8F4FF"/>
          </a:solidFill>
          <a:ln w="6350">
            <a:solidFill>
              <a:srgbClr val="C8DF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8872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1.  US FDA. (2023). Approved Cellular and Gene Therapy Products. fda.gov/vaccines-blood-biologics/cellular-gene-therapy-products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2.  NIH National Human Genome Research Institute. (2023). What is gene therapy? genome.gov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688336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3.  WHO. (2021). Human Genome Editing: A Framework for Governance. World Health Organization, Geneva.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438144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4.  Doudna JA, Charpentier E. (2012). A Programmable Dual-RNA–Guided DNA Endonuclease in Adaptive Bacterial Immunity. Science, 337(6096), 816–821.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187952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5.  Cavazzana-Calvo M et al. (2000). Gene Therapy of Human Severe Combined Immunodeficiency (SCID)-X1 Disease. Science, 288(5466), 669–672.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493776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6.  Anzalone AV et al. (2019). Search-and-replace genome editing without double-strand breaks or donor DNA. Nature, 576, 149–157.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5687568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7.  Vertex Pharmaceuticals &amp; CRISPR Therapeutics. (2023). Casgevy (exagamglogene autotemcel) FDA Approval Summary.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18872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8.   Novartis Gene Therapies. (2019). Zolgensma (onasemnogene abeparvovec-xioi) Prescribing Information. FDA.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938528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9.   Spark Therapeutics. (2017). Luxturna (voretigene neparvovec-rzyl) FDA Approval Data Sheet.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688336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10.  James C. (2023). Global Status of Commercialized Biotech/GM Crops. ISAAA Brief No. 55.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438144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11.  Jumper J et al. (2021). Highly accurate protein structure prediction with AlphaFold. Nature, 596, 583–589.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4187952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12.  National Academies of Sciences, Engineering, and Medicine. (2017). Human Genome Editing: Science, Ethics, and Governance. NAP.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4937760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13.  Robbins &amp; Cotran. (2021). Pathologic Basis of Disease, 10th ed. Chapter 5: Genetic Disorders. Elsevier.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5687568"/>
            <a:ext cx="5577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1A2E"/>
                </a:solidFill>
                <a:latin typeface="Calibri"/>
              </a:rPr>
              <a:t>14.  Harper DR. (2021). Viruses: Biology, Applications, and Control. Chapter on Viral Vectors. Garland Science.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510528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4748B"/>
                </a:solidFill>
                <a:latin typeface="Calibri"/>
              </a:rPr>
              <a:t>Recommended Resources: PubMed | NIH Genome.gov | WHO.int | FDA.gov | ISAAA.org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537960"/>
            <a:ext cx="1161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Gene Therapy &amp; Genetic Engineering  |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