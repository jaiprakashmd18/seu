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62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the audience. Introduce yourself and the topic. Mention this presentation covers gene therapy and genetic engineering at a college/MBBS level, touching on mechanisms, applications, ethics,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both terms clearly. Emphasize: genetic engineering is the technique; gene therapy is the clinical application. Give analogy: genetic engineering is like software coding; gene therapy is running the patch on a sick computer (body).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timeline. Highlight 1953 (foundation), 1990 (first trial), 2012 (CRISPR revolution), and 2023 (real-world CRISPR approval). Emphasize how rapidly the field has advanced.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somatic vs germline clearly. Somatic is ethical and approved. Germline is controversial and banned in most countries. Mention He Jiankui controversy (2018 CRISPR baby scandal). Ask students: why is germline therapy so debated?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viral vs non-viral delivery. AAV is the gold standard for clinical gene therapy. Lipid nanoparticles gained fame via COVID mRNA vaccines. Discuss the trade-off: viral = efficient but immune response risk; non-viral = safer but less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recombinant DNA (the original genetic engineering tool), then CRISPR (the modern revolution). Cloning is foundational to all molecular biology. TALEN/ZFN are predecessors of CRISPR. Emphasize CRISPR is like a 'find and replace' function in 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step of CRISPR carefully. Use the analogy: sgRNA = GPS coordinates, Cas9 = molecular scissors. NHEJ is error-prone (useful for knockouts), HDR is precise (useful for gene correction). Mention real-world applications: sickle cell disease, cancer, blindness.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six major areas. Emphasize approved therapies: Casgevy, Zolgensma, Luxturna, CAR-T. Mention cost issue (Zolgensma = $2.1M one-time dose). CAR-T cell therapy is the most exciting oncology breakthrough. mRNA vaccines brought gene delivery to mainstream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GM crops are grown on ~190 million hectares. Major products: Bt corn/cotton, Roundup Ready soy, Golden Rice. Discuss controversy: golden rice could prevent 500,000+ childhood blindness cases/year but faced regulatory delays. CRISPR in agriculture is not classified as 'GMO' in some countries, easing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transformative potential. Key message: gene therapy addresses the ROOT CAUSE. Personalized medicine is the future — matching therapy to individual genome. Emphasize economic benefits too: cheaper insulin production via recombinant DNA saved millions of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Jesse Gelsinger case (1999): first gene therapy death, set back the field by years. He Jiankui case (2018): first CRISPR babies, led to international outrage and his imprisonment. Key ethical principles: non-maleficence, justice, autonomy. Ask: should germline editing ever be allowed?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AlphaFold is a landmark — it solved a 50-year grand challenge in biology. AI + CRISPR is the future. Prime editing is safer than standard CRISPR (no double-strand break). By 2030, expect gene therapies to become as routine as chemotherapy. WGS cost curve mirrors Moore's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landmark cases every medical student should know. Ashanthi = proof of concept (1990). Luxturna = first approved (2017). Casgevy = CRISPR milestone (2023). Zolgensma = most expensive medicine, but cost-effective as a lifetime cure. Discuss: how do we decide who gets $2M therapies?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all six key points. Reinforce that gene therapy is not science fiction — it's here today. End with the quote and open for Q&amp;A. Suggested question to pose: 'If you could eliminate a genetic disease from your family line, would you — and should you be allowed to?'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Direct students to these primary sources for further reading. Emphasize peer-reviewed journals (Science, Nature) and official health agencies (WHO, NIH, FDA) as gold-standard sources. Robbins Pathology has an excellent chapter on genetic disorders.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75520" y="274320"/>
            <a:ext cx="25603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99648" y="274320"/>
            <a:ext cx="25603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32004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64008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24031" y="64008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100584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48416" y="100584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0" y="1051560"/>
            <a:ext cx="1097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75520" y="137160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0" y="137160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875520" y="173736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97183" y="173736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6960" y="178308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75520" y="210312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97183" y="210312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75520" y="246888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972800" y="246888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66960" y="2514600"/>
            <a:ext cx="1097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5520" y="283464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48416" y="283464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75520" y="320040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24031" y="320040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6960" y="324612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75520" y="3566160"/>
            <a:ext cx="25603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99648" y="3566160"/>
            <a:ext cx="25603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75520" y="393192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924031" y="393192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66960" y="3977639"/>
            <a:ext cx="1097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75520" y="429768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48416" y="429768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466344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972800" y="466344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966960" y="470916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75520" y="502920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997183" y="502920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75520" y="539496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997183" y="5394960"/>
            <a:ext cx="158496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66960" y="5440680"/>
            <a:ext cx="10972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75520" y="576072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72800" y="5760720"/>
            <a:ext cx="182880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75520" y="612648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948416" y="6126480"/>
            <a:ext cx="207264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66960" y="617220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875520" y="649224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924031" y="6492240"/>
            <a:ext cx="231647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41832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MBBS | COLLEGE LEVEL  ·  BIOMEDICAL SCIENCES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1508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Gene Therapy &amp;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24688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2C39A"/>
                </a:solidFill>
                <a:latin typeface="Calibri"/>
              </a:rPr>
              <a:t>Genetic Engineering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3566160"/>
            <a:ext cx="6858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0"/>
                </a:solidFill>
                <a:latin typeface="Calibri"/>
              </a:rPr>
              <a:t>A Comprehensive Overview for Medical &amp; Life Science Students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1960"/>
            <a:ext cx="6400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0B0C8"/>
                </a:solidFill>
                <a:latin typeface="Calibri"/>
              </a:rPr>
              <a:t>Presented by:</a:t>
            </a:r>
            <a:r>
              <a:rPr lang="en-IN" sz="1300" b="0" i="0" dirty="0">
                <a:solidFill>
                  <a:srgbClr val="90B0C8"/>
                </a:solidFill>
                <a:latin typeface="Calibri"/>
              </a:rPr>
              <a:t> BATCH 10</a:t>
            </a:r>
            <a:endParaRPr sz="1300" b="0" i="0" dirty="0">
              <a:solidFill>
                <a:srgbClr val="90B0C8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7240" y="4617720"/>
            <a:ext cx="6400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0B0C8"/>
                </a:solidFill>
                <a:latin typeface="Calibri"/>
              </a:rPr>
              <a:t>Institution: </a:t>
            </a:r>
            <a:r>
              <a:rPr lang="en-IN" sz="1300" dirty="0">
                <a:solidFill>
                  <a:srgbClr val="90B0C8"/>
                </a:solidFill>
                <a:latin typeface="Calibri"/>
              </a:rPr>
              <a:t>SEU</a:t>
            </a:r>
            <a:endParaRPr sz="1300" b="0" i="0" dirty="0">
              <a:solidFill>
                <a:srgbClr val="90B0C8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7240" y="4983480"/>
            <a:ext cx="6400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0B0C8"/>
                </a:solidFill>
                <a:latin typeface="Calibri"/>
              </a:rPr>
              <a:t>Date: </a:t>
            </a:r>
            <a:r>
              <a:rPr lang="en-IN" sz="1300" b="0" i="0" dirty="0">
                <a:solidFill>
                  <a:srgbClr val="90B0C8"/>
                </a:solidFill>
                <a:latin typeface="Calibri"/>
              </a:rPr>
              <a:t>09/05/2026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Introduction: Gene Therapy &amp; Genetic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40680" cy="246888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406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🧬  Gene Therapy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516636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Introduction of therapeutic genetic material into cells to treat or prevent disease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Corrects faulty genes causing disease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Can add, silence, or replace a gene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Targets somatic (body) or germline (inherited) cells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Emerging as a revolutionary medical treatment 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143000"/>
            <a:ext cx="5852160" cy="246888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143000"/>
            <a:ext cx="58521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2527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⚗️  Genetic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81912"/>
            <a:ext cx="557784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Direct manipulation of an organism's DNA using biotechnology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Alters genes to produce desired traits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Includes recombinant DNA technology, CRISPR, cloning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Applied in medicine, agriculture, and research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Foundation of modern molecular biology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67328"/>
            <a:ext cx="115214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813048"/>
            <a:ext cx="11521440" cy="1371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📌  Key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Genetic Engineering is the broad toolbox of techniques; Gene Therapy is its targeted medical application — the science of rewriting DNA errors that cause disease.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History &amp; Development: Key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111556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2282" y="274320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1953</a:t>
            </a:r>
          </a:p>
        </p:txBody>
      </p:sp>
      <p:sp>
        <p:nvSpPr>
          <p:cNvPr id="7" name="Oval 6"/>
          <p:cNvSpPr/>
          <p:nvPr/>
        </p:nvSpPr>
        <p:spPr>
          <a:xfrm>
            <a:off x="1089442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402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Watson &amp; Crick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242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Double-helix structure of DNA discovered</a:t>
            </a:r>
          </a:p>
        </p:txBody>
      </p:sp>
      <p:sp>
        <p:nvSpPr>
          <p:cNvPr id="10" name="Oval 9"/>
          <p:cNvSpPr/>
          <p:nvPr/>
        </p:nvSpPr>
        <p:spPr>
          <a:xfrm>
            <a:off x="2545950" y="274320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1973</a:t>
            </a:r>
          </a:p>
        </p:txBody>
      </p:sp>
      <p:sp>
        <p:nvSpPr>
          <p:cNvPr id="11" name="Oval 10"/>
          <p:cNvSpPr/>
          <p:nvPr/>
        </p:nvSpPr>
        <p:spPr>
          <a:xfrm>
            <a:off x="2683110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63070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Cohen &amp; Boyer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910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First recombinant DNA organism created</a:t>
            </a:r>
          </a:p>
        </p:txBody>
      </p:sp>
      <p:sp>
        <p:nvSpPr>
          <p:cNvPr id="14" name="Oval 13"/>
          <p:cNvSpPr/>
          <p:nvPr/>
        </p:nvSpPr>
        <p:spPr>
          <a:xfrm>
            <a:off x="4139619" y="274320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1990</a:t>
            </a:r>
          </a:p>
        </p:txBody>
      </p:sp>
      <p:sp>
        <p:nvSpPr>
          <p:cNvPr id="15" name="Oval 14"/>
          <p:cNvSpPr/>
          <p:nvPr/>
        </p:nvSpPr>
        <p:spPr>
          <a:xfrm>
            <a:off x="4276779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56739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W.F. Anderson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9579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First approved human gene therapy trial (ADA-SCID)</a:t>
            </a:r>
          </a:p>
        </p:txBody>
      </p:sp>
      <p:sp>
        <p:nvSpPr>
          <p:cNvPr id="18" name="Oval 17"/>
          <p:cNvSpPr/>
          <p:nvPr/>
        </p:nvSpPr>
        <p:spPr>
          <a:xfrm>
            <a:off x="5733287" y="274320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2003</a:t>
            </a:r>
          </a:p>
        </p:txBody>
      </p:sp>
      <p:sp>
        <p:nvSpPr>
          <p:cNvPr id="19" name="Oval 18"/>
          <p:cNvSpPr/>
          <p:nvPr/>
        </p:nvSpPr>
        <p:spPr>
          <a:xfrm>
            <a:off x="5870447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0407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HGP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7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Human Genome Project fully sequenced</a:t>
            </a:r>
          </a:p>
        </p:txBody>
      </p:sp>
      <p:sp>
        <p:nvSpPr>
          <p:cNvPr id="22" name="Oval 21"/>
          <p:cNvSpPr/>
          <p:nvPr/>
        </p:nvSpPr>
        <p:spPr>
          <a:xfrm>
            <a:off x="7326956" y="274320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2012</a:t>
            </a:r>
          </a:p>
        </p:txBody>
      </p:sp>
      <p:sp>
        <p:nvSpPr>
          <p:cNvPr id="23" name="Oval 22"/>
          <p:cNvSpPr/>
          <p:nvPr/>
        </p:nvSpPr>
        <p:spPr>
          <a:xfrm>
            <a:off x="7464116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44076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Doudna &amp; Charpentier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6916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CRISPR-Cas9 gene editing developed</a:t>
            </a:r>
          </a:p>
        </p:txBody>
      </p:sp>
      <p:sp>
        <p:nvSpPr>
          <p:cNvPr id="26" name="Oval 25"/>
          <p:cNvSpPr/>
          <p:nvPr/>
        </p:nvSpPr>
        <p:spPr>
          <a:xfrm>
            <a:off x="8920625" y="274320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27" name="Oval 26"/>
          <p:cNvSpPr/>
          <p:nvPr/>
        </p:nvSpPr>
        <p:spPr>
          <a:xfrm>
            <a:off x="9057785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7745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FDA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0585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First gene therapy (Luxturna) approved for blindness</a:t>
            </a:r>
          </a:p>
        </p:txBody>
      </p:sp>
      <p:sp>
        <p:nvSpPr>
          <p:cNvPr id="30" name="Oval 29"/>
          <p:cNvSpPr/>
          <p:nvPr/>
        </p:nvSpPr>
        <p:spPr>
          <a:xfrm>
            <a:off x="10514293" y="274320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31" name="Oval 30"/>
          <p:cNvSpPr/>
          <p:nvPr/>
        </p:nvSpPr>
        <p:spPr>
          <a:xfrm>
            <a:off x="10651453" y="31729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1413" y="3401568"/>
            <a:ext cx="16851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CRISPR Milestone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4253" y="3749039"/>
            <a:ext cx="19594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First CRISPR therapy (Casgevy) approved for sickle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1950s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1970s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1990s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2000s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2010s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2017–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2023+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078992"/>
            <a:ext cx="11521440" cy="45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1430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70 YEARS OF BREAKTHROUGHS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Types of Gene Therapy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40680" cy="521208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4068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1  SOMATIC GENE THERAPY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Targets non-reproductive body cells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Target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75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Muscle, liver, lung, blood cells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Inheritance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054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Changes NOT passed to offspring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5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9169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Safety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3522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Lower ethical concern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3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36499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CAR-T cell therapy, ADA-SCID treatment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76471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7647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Approved therapies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7947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Zolgensma, Luxturna, Hemgenix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39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062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22452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In vivo (in the body) or ex vivo (outside body)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36007"/>
            <a:ext cx="13716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6360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65429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Clinically approved &amp; widely researched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143000"/>
            <a:ext cx="5806440" cy="521208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0760" y="1143000"/>
            <a:ext cx="5806440" cy="914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1261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2  GERMLINE GENE THERAPY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Targets reproductive cells (eggs/sperm/embryos)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057400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Target cells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0756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Eggs, sperm, embryonic cells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487168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Inheritance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50545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Changes PASSED to all future generations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916935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29169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Safety concern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935223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Extremely high — irreversible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346703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33467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3649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CRISPR on human embryos (He Jiankui case)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76471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377647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Legal 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379475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BANNED in most countries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206239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42062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Ethical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4224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'Designer babies' risk and eugenics concern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636007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17920" y="46360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Research 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465429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Limited to lab models only (not clinical)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Methods of Gene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VIRAL VECTORS  (Most Common – ~70% of trials)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99616"/>
            <a:ext cx="115214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7432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72768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Adeno-Associated
Virus (AAV)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75688"/>
            <a:ext cx="2743200" cy="20574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Most widely used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786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Low immune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358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Treats eye/muscle/nervous disorders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930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Example: Zolgensma (SMA)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72768"/>
            <a:ext cx="274320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1572768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Retrovirus /
Lentivirus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075688"/>
            <a:ext cx="2743200" cy="20574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Integrates into host DNA permanently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786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Treats blood &amp; immune disorders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358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Risk: insertional mutagenesis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930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Example: CAR-T cell therapy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59" y="1572768"/>
            <a:ext cx="27432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572768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Adenovirus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2075688"/>
            <a:ext cx="2743200" cy="20574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199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Efficient gene delivery, broad tropism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5786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Does NOT integrate into host DNA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0358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High immunogenicity drawback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34930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Used in COVID-19 vaccines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19" y="1572768"/>
            <a:ext cx="27432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25128" y="1572768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Herpes Simplex
Virus (HSV)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19" y="2075688"/>
            <a:ext cx="2743200" cy="20574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59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Large gene cargo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25786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Targets neurons effectively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30358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Used in pain &amp; neurological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34930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▸ Less used clinically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2519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NON-VIRAL METHODS  (Emerging – Safer, Less Efficient)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63440"/>
            <a:ext cx="274320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59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Lipid
Nanoparticles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20640"/>
            <a:ext cx="2743200" cy="1417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79" y="51663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Coat DNA/mRNA in lipid bubble; used in mRNA COVID vaccines; efficient delivery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663440"/>
            <a:ext cx="274320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61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Electroporation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120640"/>
            <a:ext cx="2743200" cy="1417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51663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Electric pulse opens cell pores temporarily; allows DNA entry; used ex vivo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59" y="4663440"/>
            <a:ext cx="274320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79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Gene Gun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59" y="5120640"/>
            <a:ext cx="2743200" cy="1417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199" y="51663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Coats gold beads with DNA, fired into tissue; used in agriculture &amp; vaccines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19" y="4663440"/>
            <a:ext cx="274320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0684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Naked DNA
Injection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19" y="5120640"/>
            <a:ext cx="2743200" cy="1417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59" y="51663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Direct injection of plasmid DNA; simple but low efficiency; used in muscle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Genetic Engineering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2788920" cy="53035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115568"/>
            <a:ext cx="278892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4320" y="1188720"/>
            <a:ext cx="1005840" cy="1005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2344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Recombinant DNA
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9019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Cut DNA with restriction enzymes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Insert gene into plasmid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5844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Transform into host cell (bacteria/yeast)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4425696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Express desired protein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5266944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Example: Insulin production via E. coli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15568"/>
            <a:ext cx="2788920" cy="53035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1115568"/>
            <a:ext cx="278892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91840" y="118872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2344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CRISPR-Cas9
Gene Editing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9019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Guide RNA directs Cas9 to target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Cas9 cuts double-stranded DNA precisely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5844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Cell repair inserts/deletes/replaces gene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425696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Cheap, fast, highly precise &amp; programmable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5266944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Nobel Prize 2020 – Doudna &amp; Charpentier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15568"/>
            <a:ext cx="2788920" cy="53035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115568"/>
            <a:ext cx="27889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9359" y="1188720"/>
            <a:ext cx="1005840" cy="10058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12344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Gene Cloning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19019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Isolate gene of interest from organism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Insert into cloning vector (plasmid)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5844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Replicate in bacteria to produce many copies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425696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Used to study gene function &amp; produce proteins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5266944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Basis of PCR &amp; molecular diagnostics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39" y="1115568"/>
            <a:ext cx="2788920" cy="53035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35439" y="1115568"/>
            <a:ext cx="278892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26879" y="1188720"/>
            <a:ext cx="1005840" cy="100584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1" y="12344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Zinc Finger &amp;
TALEN Editing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19019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Earlier protein-based gene editing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Zinc fingers bind specific DNA sequences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35844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TALENs use TALE proteins + FokI nuclease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7" y="4425696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More complex &amp; expensive than CRISPR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7" y="5266944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▸ Still used in some therapeutic contexts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CRISPR-Cas9: Mechanism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96012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7043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17904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243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Design sgRNA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910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20-nucleotide guide RNA (sgRNA) is designed to match the target DNA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039112"/>
            <a:ext cx="109728" cy="2103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249424"/>
            <a:ext cx="960120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2494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96896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sgRNA Binds Cas9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670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sgRNA binds to Cas9 protein, forming an active ribonucleoprotein complex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3118104"/>
            <a:ext cx="109728" cy="2103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96012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328415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675887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401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DNA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7490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complex scans along the DNA strand, searching for the complementary 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4197096"/>
            <a:ext cx="109728" cy="2103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407408"/>
            <a:ext cx="960120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40740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7548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0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Double-Strand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8280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Cas9 creates a precise double-strand break (DSB) at the target 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5276088"/>
            <a:ext cx="109728" cy="2103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5486400"/>
            <a:ext cx="96012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548640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833872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559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DNA 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9070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Cell repairs via NHEJ (mutation) or HDR (precise gene insertion using a template)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1078992"/>
            <a:ext cx="6035040" cy="5349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7880" y="11155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CRISPR-Cas9 MECHANISM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69164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58400" y="169164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56832" y="1737360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0" y="189280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58400" y="189280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656832" y="1938528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0" y="209397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058400" y="209397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656832" y="2139696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0" y="229514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058400" y="229514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656832" y="2340864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249631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58400" y="249631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56832" y="2542032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0" y="269748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058400" y="269748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56832" y="2743200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83680" y="289864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058400" y="289864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656832" y="2944368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83680" y="309981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058400" y="309981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56832" y="3145536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583680" y="330098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058400" y="330098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656832" y="3346704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83680" y="350215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058400" y="350215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583680" y="3502152"/>
            <a:ext cx="3566160" cy="54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83680" y="35753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5555"/>
                </a:solidFill>
                <a:latin typeface="Calibri"/>
              </a:rPr>
              <a:t>✂ CUT SITE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370332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058400" y="370332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656832" y="3749040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583680" y="3904487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058400" y="3904487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656832" y="3950207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583680" y="410565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058400" y="410565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656832" y="4151376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583680" y="430682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058400" y="430682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56832" y="4352544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583680" y="450799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058400" y="4507992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656832" y="4553712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583680" y="470916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058400" y="4709160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656832" y="4754880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83680" y="491032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058400" y="4910328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656832" y="4956048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583680" y="511149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058400" y="5111496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656832" y="5157216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583680" y="531266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058400" y="5312664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656832" y="5358384"/>
            <a:ext cx="340156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583680" y="5513831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0058400" y="5513831"/>
            <a:ext cx="7315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656832" y="5559551"/>
            <a:ext cx="3401568" cy="54864"/>
          </a:xfrm>
          <a:prstGeom prst="rect">
            <a:avLst/>
          </a:prstGeom>
          <a:solidFill>
            <a:srgbClr val="4A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7772400" y="2468880"/>
            <a:ext cx="164592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772400" y="24688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Cas9
Protein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80960" y="1920240"/>
            <a:ext cx="182880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8096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295C"/>
                </a:solidFill>
                <a:latin typeface="Calibri"/>
              </a:rPr>
              <a:t>sgRNA (Guide)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97880" y="4937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8FF"/>
                </a:solidFill>
                <a:latin typeface="Calibri"/>
              </a:rPr>
              <a:t>▸ NHEJ Repair → Gene Knockout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97880" y="5349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8FF"/>
                </a:solidFill>
                <a:latin typeface="Calibri"/>
              </a:rPr>
              <a:t>▸ HDR Repair → Precise Gene Insertion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97880" y="5833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8FF"/>
                </a:solidFill>
                <a:latin typeface="Calibri"/>
              </a:rPr>
              <a:t>▸ Nobel Prize 2020: Doudna &amp; Charpentier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Medical Applications of Gene Therapy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114300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43000"/>
            <a:ext cx="3794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🩸 Inherited Blood
Disorders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0136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Sickle cell disease &amp; Beta-thalassemia: Casgevy (CRISPR-based) FDA-approved 2023. Hemophilia A/B treated with AAV vectors (Hemgenix).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Casgevy – CRISPR sickle cell 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9067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Zolgensma – SMA gene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9242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Hemgenix – Hemophilia B (AAV5)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14300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33672" y="114300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2527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🧠 Neurological
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0136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Spinal Muscular Atrophy (SMA), Parkinson's, and Huntington's disease are active gene therapy targets.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889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SMA treated with Zolgensma (one-time dose)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9067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Clinical trials for Parkinson's underway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9242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Huntington's: RNA interference trials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1" y="114300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311" y="1143000"/>
            <a:ext cx="37947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39" y="12527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👁 Eye Diseases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180136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Luxturna – First FDA-approved gene therapy for inherited retinal dystrophy caused by RPE65 mutations. Restores functional vision.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78892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Luxturna (voretigene) – RPE65 mutation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09067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Age-related macular degeneration trials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339242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Stargardt disease research 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93192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3931920"/>
            <a:ext cx="379476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041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🦠 Cancer
Immunotherapy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9028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CAR-T cell therapy engineers patient's own T-cells to target and destroy cancer cells. Approved for leukemia &amp; lymphoma.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57784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CAR-T: Kymriah &amp; Yescarta 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8795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Oncolytic virus therapy (T-VEC)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18134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Checkpoint inhibitor gene-based combos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33672" y="393192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33672" y="393192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4041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💉 Infectious
Diseases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59028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HIV: gene editing of CCR5 receptor confers resistance. COVID-19 mRNA vaccines use lipid nanoparticle gene delivery.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57784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mRNA vaccines (COVID-19, RSV, flu)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8795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HIV: CCR5-delta32 gene editing trials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618134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Hepatitis B/C gene silencing (RNAi)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1" y="3931920"/>
            <a:ext cx="3794760" cy="26060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11311" y="3931920"/>
            <a:ext cx="3794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39" y="4041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🧬 Rare Genetic
Syndromes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39" y="4590288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Hundreds of rare monogenic diseases (ADA-SCID, Gaucher, Pompe disease) are addressable with gene therapy.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9" y="557784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ADA-SCID: first ever gene therapy 1990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9" y="5879592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Gaucher disease enzyme replacement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9" y="618134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alibri"/>
              </a:rPr>
              <a:t>▸ Pompe disease AAV trials 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Genetic Engineering in Agriculture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9601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Calibri"/>
              </a:rPr>
              <a:t>~190M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CE0"/>
                </a:solidFill>
                <a:latin typeface="Calibri"/>
              </a:rPr>
              <a:t>Hectares of GM crops globally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143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Calibr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5727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CE0"/>
                </a:solidFill>
                <a:latin typeface="Calibri"/>
              </a:rPr>
              <a:t>Countries growing GM crops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43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Calibri"/>
              </a:rPr>
              <a:t>$20B+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CE0"/>
                </a:solidFill>
                <a:latin typeface="Calibri"/>
              </a:rPr>
              <a:t>Annual economic benefit to farmers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143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Calibri"/>
              </a:rPr>
              <a:t>70%+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5727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CE0"/>
                </a:solidFill>
                <a:latin typeface="Calibri"/>
              </a:rPr>
              <a:t>US soybean crop is GM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4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2194560"/>
            <a:ext cx="3794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304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🌽  Pest &amp; Disease
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Bt crops (Bacillus thuringiensis toxin gene)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186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Kills insects without chemical pesticides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0273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Bt cotton, Bt corn, Bt brinjal (eggplant)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8678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Reduces crop losses up to 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2194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33672" y="219456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2304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🌾  Herbicide
Tolerance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346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Roundup Ready crops (glyphosate resistant)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186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Farmers spray herbicide, only weeds die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60273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Soybean, maize, canola, cotton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8678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Controversial due to herbicide overuse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1" y="2194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11311" y="2194560"/>
            <a:ext cx="37947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39" y="2304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🍅  Improved
Nutritional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83463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Golden Rice: beta-carotene (Vitamin A) added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32186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High-lysine corn for better protein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360273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Omega-3 enriched soybeans (SDA soybean)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398678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Addresses malnutrition in developing countries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4480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" y="4480560"/>
            <a:ext cx="379476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590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🌧  Drought &amp;
Stress Tolerance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120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DroughtGard maize survives water scarcity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5046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Salt-tolerant crops for marginal land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888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Cold-tolerant plants for early planting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2727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Critical for climate change adaptation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33672" y="4480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33672" y="4480560"/>
            <a:ext cx="3794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43400" y="4590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🐟  Animals &amp;
Aquaculture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5120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AquAdvantage salmon: faster growth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5046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Disease-resistant livestock via gene editing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888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CRISPR hornless cattle (no dehorning needed)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62727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Pigs modified for organ xenotransplantation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1311" y="4480560"/>
            <a:ext cx="3794760" cy="21031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11311" y="448056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39" y="45902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🌿  Biofuel &amp;
Industrial 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5120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High-starch/sugar crops for ethanol 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39" y="55046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Jatropha engineered for biodiesel yield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39" y="5888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Algae engineered to produce oil efficiently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39" y="62727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Reduce dependence on fossil fuels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Advantages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Targeted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0136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Corrects the root genetic cause of disease — not just symptoms. One-time treatment can be curative for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14300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18688" y="114300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307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Reduced Drug 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0136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Patients may no longer need lifelong medication. Example: hemophilia patients avoiding factor replacement therapy.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14300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14300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307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Personalized Medicine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80136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Therapy tailored to an individual's unique genome. Pharmacogenomics optimizes drug selection and dose.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14300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98864" y="114300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0304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307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Vaccine Revolution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180136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mRNA vaccines (COVID-19) deliver genetic instructions for immunity — faster production, easier modification.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9476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37947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593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Food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45312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GM crops resist pests, drought, and disease — boosting yields and reducing famine in vulnerable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18688" y="379476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18688" y="37947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10128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39593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Disease Prevention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45312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Germline editing could theoretically eliminate hereditary disorders (e.g., BRCA mutations) before birth.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379476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08776" y="37947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0216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9593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Rapid Drug 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45312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Recombinant proteins (insulin, erythropoietin, growth hormone) produced cheaply and abundantly in bacteria.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98864" y="3794760"/>
            <a:ext cx="2834640" cy="242316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98864" y="37947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90304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5A82"/>
                </a:solidFill>
                <a:latin typeface="Calibri"/>
              </a:rPr>
              <a:t>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3224" y="39593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Research Acceleration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4453128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CRISPR enables rapid gene function studies. Animal models of disease created in weeks instead of years.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Risks, Safety Concerns &amp; Ethical Debates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52578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457200"/>
          </a:xfrm>
          <a:prstGeom prst="rect">
            <a:avLst/>
          </a:prstGeom>
          <a:solidFill>
            <a:srgbClr val="B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⚠  SAFETY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36"/>
                </a:solidFill>
                <a:latin typeface="Calibri"/>
              </a:rPr>
              <a:t>▸ Immune Reactions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Viral vectors may trigger severe immune responses (e.g., Jesse Gelsinger death, 1999)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24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36"/>
                </a:solidFill>
                <a:latin typeface="Calibri"/>
              </a:rPr>
              <a:t>▸ Off-Target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864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CRISPR may cut unintended genomic sites, causing mutations or cancer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57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36"/>
                </a:solidFill>
                <a:latin typeface="Calibri"/>
              </a:rPr>
              <a:t>▸ Insertional Mutagenesis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3133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Retroviral integration near oncogenes can cause leukemia (observed in early ADA-SCID trials)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89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36"/>
                </a:solidFill>
                <a:latin typeface="Calibri"/>
              </a:rPr>
              <a:t>▸ Long-term Unknowns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64024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Long-term safety of gene modifications not yet fully 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4223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3636"/>
                </a:solidFill>
                <a:latin typeface="Calibri"/>
              </a:rPr>
              <a:t>▸ Delivery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69671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Reaching all target cells efficiently, especially in large organs, remains difficult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143000"/>
            <a:ext cx="3749039" cy="52578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06240" y="1143000"/>
            <a:ext cx="3749039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11704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⚖  ETHICAL DEBATES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91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Designer Babies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96596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Selecting traits (intelligence, appearance) raises eugenics concerns and inequality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624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Informed 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9864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Future generations affected by germline edits cannot consent to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557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Access &amp; Equity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3133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Gene therapies cost $1–3 million; only wealthy nations/patients can afford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489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Playing God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764024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Philosophical/religious debates about humans altering the fundamental code of life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223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Dual-Use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69671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CRISPR knowledge could be misused for bioweapons or harmful pathogens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143000"/>
            <a:ext cx="3794760" cy="52578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143000"/>
            <a:ext cx="3794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11704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REGULATORY 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1691640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FDA (USA)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169164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Strict IND &amp; BLA approval needed. Monitors all gene therapy trials.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624328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2624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EMA (Europe)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262432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Centralized ATMP (Advanced Therapy) approval process.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3557016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20" y="3557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WHO Guidelines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557016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Global ethical framework; opposes germline editing in humans.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4489704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Moratorium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4489704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International consensus: no clinical germline editing until safe &amp; ethical.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5422392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54223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He Jiankui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5422392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Chinese researcher jailed 3 years for illegal CRISPR baby experiments (2018).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Current Research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3794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225295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🤖  AI &amp; Machine
Learning in Genomics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82880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AlphaFold2 predicted protein structures of all known proteins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25856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AI designs optimized guide RNAs for CRISPR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688335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ML predicts off-target CRISPR cuts before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118103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AI-driven drug target identification from genomic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15568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115568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225295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✂  Next-Gen Gene
Editing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82880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Base editing: changes single DNA letters without cuts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25856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Prime editing: 'search and replace' for any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688335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Epigenome editing: modifies gene expression without changing DNA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118103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CRISPR-Cas12 &amp; Cas13: DNA and RNA targeting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15568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115568"/>
            <a:ext cx="3794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7" y="1225295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💊  In Vivo Gene
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82880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Delivering CRISPR directly into living patients via LNPs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225856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NTLA-2001: CRISPR therapy for transthyretin amyloidosis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688335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Intellia &amp; Regeneron in vivo liver-targeted trials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3118103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Goal: treat diseases without removing cells from body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840480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84048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39502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🧬  Whole Genome
Sequencing (WGS)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4553712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Cost dropped from $3 billion (2003) to &lt;$200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498348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Newborn genomic screening programs being piloted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" y="541324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Prenatal genetic diagnosis at single-cell 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5843016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Population genomics for disease risk profiling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840480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06240" y="3840480"/>
            <a:ext cx="3794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15968" y="39502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🌍  Global Gene
Therapy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553712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mRNA platform allows rapid vaccine &amp; therapy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98348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Gates Foundation funds gene therapy for malaria &amp; HIV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41324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Low-cost CRISPR kits now used in developing countries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843016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WHO 2030 roadmap for equitable genomic medicine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840480"/>
            <a:ext cx="3794760" cy="251460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83879" y="3840480"/>
            <a:ext cx="3794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93607" y="39502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🔮  Predictions
for 2030–2040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7" y="4553712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&gt;50 gene therapies routinely approved worldwide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7" y="4983480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CRISPR used to cure HIV, Alzheimer's, common cancers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7" y="5413248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Personalized cancer vaccines based on tumor genome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7" y="5843016"/>
            <a:ext cx="3566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▸ Potential extension of healthy lifespan via longevity genes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Real-World Case Studies &amp; Success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5760720" cy="2560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576072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15214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DDFF"/>
                </a:solidFill>
                <a:latin typeface="Calibri"/>
              </a:rPr>
              <a:t>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3716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Ashanthi DeSilva – (ADA-SCID, 1990)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993391"/>
            <a:ext cx="11430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99339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93391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Adenosine Deaminase Deficiency (SCID) – severe combined immunodeficiency, no immune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569463"/>
            <a:ext cx="11430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" y="256946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9463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First approved human gene therapy. Retroviral vector delivered functional ADA gene into T-cells ex vivo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3145535"/>
            <a:ext cx="11430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314553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45535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Immune system restored. Ashanthi is alive and healthy 30+ years later — the first gene therapy success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15568"/>
            <a:ext cx="5760720" cy="2560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115568"/>
            <a:ext cx="5760720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15214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DDFF"/>
                </a:solidFill>
                <a:latin typeface="Calibri"/>
              </a:rPr>
              <a:t>CASE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37160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Sickle Cell Disease – (Casgevy, 2023)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993391"/>
            <a:ext cx="11430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199339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1993391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Sickle Cell Disease – mutant HBB gene causes deformed red blood cells, severe pain crises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2569463"/>
            <a:ext cx="11430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56946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569463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CRISPR-Cas9 edits BCL11A gene to reactivate fetal hemoglobin (HbF), compensating for defective adult hemoglobin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145535"/>
            <a:ext cx="11430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314553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145535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FDA-approved Nov 2023. 94% of patients pain-crisis-free at 1 year. First approved CRISPR therapy globally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904487"/>
            <a:ext cx="5760720" cy="2560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" y="3904487"/>
            <a:ext cx="576072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328" y="3941063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DDFF"/>
                </a:solidFill>
                <a:latin typeface="Calibri"/>
              </a:rPr>
              <a:t>CASE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416052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Inherited Blindness – (Luxturna, 2017)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4782312"/>
            <a:ext cx="11430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" y="47823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782312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Leber Congenital Amaurosis – RPE65 gene mutation causes progressive blindness from childhood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" y="5358383"/>
            <a:ext cx="11430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" y="535838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358383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AAV2 vector delivers functional RPE65 gene directly into subretinal space via surgical injection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" y="5934455"/>
            <a:ext cx="11430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8" y="593445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934455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FDA-approved 2017. Restored functional vision in both eyes. Patient can navigate independently in dim light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04487"/>
            <a:ext cx="5760720" cy="256032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3904487"/>
            <a:ext cx="5760720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27648" y="3941063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DDFF"/>
                </a:solidFill>
                <a:latin typeface="Calibri"/>
              </a:rPr>
              <a:t>CASE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416052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Spinal Muscular – Atrophy (Zolgensma)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4782312"/>
            <a:ext cx="1143000" cy="25603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47823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DISEASE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782312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SMA Type 1 – SMN1 gene deletion causes motor neuron death; children unable to breathe/swallow by age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5358383"/>
            <a:ext cx="1143000" cy="25603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27648" y="535838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358383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AAV9 vector delivers SMN1 gene via single IV infusion (onasemnogene abeparvovec)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5934455"/>
            <a:ext cx="1143000" cy="25603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27648" y="593445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5934455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Most expensive drug ever at $2.1M — but one-time cure. 91% of treated infants alive at age 2 (vs &lt;8% untreated)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527048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Gene therapy corrects disease at the genetic root, offering potential one-time cures for hereditary conditions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13432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331720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CRISPR-Cas9 has revolutionized genetic engineering — precise, affordable, and programmable gene editing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18104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36392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Approved therapies (Casgevy, Zolgensma, Luxturna, CAR-T) demonstrate the real-world power of gene therapy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22776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41063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Genetic engineering in agriculture improves food security through GM crops with enhanced traits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727448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745736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Ethical oversight is essential — germline editing, designer babies, and access inequality demand global governance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53212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5550408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The integration of AI, advanced vectors, and base/prime editing promises an extraordinary future for medicine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19088"/>
            <a:ext cx="111099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6492240"/>
            <a:ext cx="11109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0A8C8"/>
                </a:solidFill>
                <a:latin typeface="Calibri"/>
              </a:rPr>
              <a:t>"The ability to rewrite the code of life is the most powerful tool in the history of medicine."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References &amp; Further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760720" cy="53492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1097280"/>
            <a:ext cx="5760720" cy="5349240"/>
          </a:xfrm>
          <a:prstGeom prst="rect">
            <a:avLst/>
          </a:prstGeom>
          <a:solidFill>
            <a:srgbClr val="E8F4FF"/>
          </a:solidFill>
          <a:ln w="6350">
            <a:solidFill>
              <a:srgbClr val="C8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1.  US FDA. (2023). Approved Cellular and Gene Therapy Products. fda.gov/vaccines-blood-biologics/cellular-gene-therapy-products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2.  NIH National Human Genome Research Institute. (2023). What is gene therapy? genome.gov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88336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3.  WHO. (2021). Human Genome Editing: A Framework for Governance. World Health Organization, Geneva.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38144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4.  Doudna JA, Charpentier E. (2012). A Programmable Dual-RNA–Guided DNA Endonuclease in Adaptive Bacterial Immunity. Science, 337(6096), 816–821.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87952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5.  Cavazzana-Calvo M et al. (2000). Gene Therapy of Human Severe Combined Immunodeficiency (SCID)-X1 Disease. Science, 288(5466), 669–672.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3776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6.  Anzalone AV et al. (2019). Search-and-replace genome editing without double-strand breaks or donor DNA. Nature, 576, 149–157.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8756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7.  Vertex Pharmaceuticals &amp; CRISPR Therapeutics. (2023). Casgevy (exagamglogene autotemcel) FDA Approval Summary.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18872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8.   Novartis Gene Therapies. (2019). Zolgensma (onasemnogene abeparvovec-xioi) Prescribing Information. FDA.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3852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9.   Spark Therapeutics. (2017). Luxturna (voretigene neparvovec-rzyl) FDA Approval Data Sheet.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88336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10.  James C. (2023). Global Status of Commercialized Biotech/GM Crops. ISAAA Brief No. 55.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38144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11.  Jumper J et al. (2021). Highly accurate protein structure prediction with AlphaFold. Nature, 596, 583–589.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87952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12.  National Academies of Sciences, Engineering, and Medicine. (2017). Human Genome Editing: Science, Ethics, and Governance. NAP.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93776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13.  Robbins &amp; Cotran. (2021). Pathologic Basis of Disease, 10th ed. Chapter 5: Genetic Disorders. Elsevier.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68756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14.  Harper DR. (2021). Viruses: Biology, Applications, and Control. Chapter on Viral Vectors. Garland Science.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Recommended Resources: PubMed | NIH Genome.gov | WHO.int | FDA.gov | ISAAA.org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Gene Therapy &amp; Genetic Engineering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3641</Words>
  <Application>Microsoft Office PowerPoint</Application>
  <PresentationFormat>Custom</PresentationFormat>
  <Paragraphs>426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PRAKASH</cp:lastModifiedBy>
  <cp:revision>2</cp:revision>
  <dcterms:created xsi:type="dcterms:W3CDTF">2013-01-27T09:14:16Z</dcterms:created>
  <dcterms:modified xsi:type="dcterms:W3CDTF">2026-05-09T07:47:38Z</dcterms:modified>
  <cp:category/>
</cp:coreProperties>
</file>